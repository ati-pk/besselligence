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35"/>
  </p:normalViewPr>
  <p:slideViewPr>
    <p:cSldViewPr snapToGrid="0" snapToObjects="1">
      <p:cViewPr varScale="1">
        <p:scale>
          <a:sx n="132" d="100"/>
          <a:sy n="132" d="100"/>
        </p:scale>
        <p:origin x="73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194560"/>
            <a:ext cx="1371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European BESS Optimizers &amp;</a:t>
            </a:r>
            <a:br/>
            <a:r>
              <a:t>Energy Storage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Competitive landscape of algorithmic trading, optimization, and battery intelligence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Enspired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AI-powered algorithmic energy trading for flexibility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enspired.energy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🇦🇹 Vienna, Austria  •  Founded 2020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Trading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Pure software/trading company — no asset ownership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Algorithmic trading of BESS on DA, Intraday Continuous &amp; balancing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Real-time ML-based dispatch optimization across multiple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Focus on short-term markets (Intraday, aFRR) where alpha is highest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Expanding from DACH/Nordics to Southern Europe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Revenue-share model with asset owners/operators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Performance-based: Enspired earns % of trading revenues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+15–30% revenue uplift vs. manual trading claimed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Pure-play algorithmic trader — deepest focus on short-term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Proprietary ML models for intraday price forecasting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Multi-market co-optimization (arbitrage + ancillary simultaneously)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Lean, asset-light model = high 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Funding: ~€20M+ (SET Ventures, Taaleri Energia)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Operates across DACH, Nordics, expanding EU-wide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Partner ecosystem with BESS developers and IPPs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Suena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AI-based optimization for battery storage and renewables marketing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suena.energy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🇩🇪 Berlin, Germany  •  Founded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Trading Autopilot + EE Marketing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"Energy Trading Autopilot" — fully automated BESS dispatch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Combined marketing of standalone storage AND co-located RE+storage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Digital twin technology for degradation management → extended battery life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Multi-market strategy: Arbitrage + FCR + aFRR simultaneously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Also handles renewable energy direct marketing (Direktvermarktung)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Individual revenue-share models per project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Risk diversification through multi-market allocation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Plug-and-play integration with low maintenance 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Unique combo: RE direct marketing + storage optimization under one roof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Digital twin for cycle optimization → provably longer battery life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Strong Co-Location expertise (RE + storage hybrid projects)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German-market depth with Steag/Iqony partnership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Clients: Steag/Iqony, Prokon eG, Münch Kraftwerke, Repono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Growing rapidly in German standalone + co-located BESS segment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Backed by energy industry strategic investors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8Energies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Develops, builds, and operates large-scale battery storage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8energies.de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🇩🇪 Berlin, Germany  •  Founded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BESS Developer &amp; Operator (Asset-Heavy)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Vertically integrated: Development → Construction → Operation → Trading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Owns and operates utility-scale BESS across Europe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Revenue from grid services: frequency regulation, arbitrage, balancing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Focus on "Flexibilitätswende" — making the EU grid more flexible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Partnership-driven approach for project co-development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Equity returns on owned assets + operational revenue streams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Stacked revenues: FCR + arbitrage + balancing mechanism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Long-term infrastructure investment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"Tech meets project development" — founders from Blinkist &amp; 7Mind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40+ years combined tech CEO experience + 25 years RE infrastructure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Only asset-heavy player in this comparison — owns the full stack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Operational excellence from tech industry applied to energy infra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Founded by ex-Blinkist/7Mind CEOs + RE infrastructure veterans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Early stage but rapidly building pipeline in Germany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Strategic partnerships with landowners and grid operators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Entrix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AI-powered battery storage trading and portfolio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entrix.io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🇩🇪 Munich, Germany  •  Founded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Trading &amp; Optimization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Algorithmic trading platform for BESS across European power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Fully automated dispatch: Day-Ahead, Intraday, FCR, aFRR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Proprietary price forecasting engine + dispatch optimizer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Portfolio optimization for operators with multiple assets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Expanding from Germany/UK across Europe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Revenue-share model with storage operators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Performance-based compensation tied to trading results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Premium tier for portfolio-level optimization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Strong probabilistic price forecasting (quantile models)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Portfolio-level optimization — not just single-asset dispatch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Intraday trading focus with high-frequency position management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Well-funded with top-tier European VC backing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Funding: ~€25M+ (World Fund, Lakestar)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Growing client base across DE, UK markets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Partnerships with major European BESS developers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ACCURE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Predictive battery analytics for safety, performance, and lifecycle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accure.net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🇩🇪 Aachen, Germany  •  Founded 2018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Battery Intelligence SaaS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NOT a trading/optimization platform — complementary to optimizers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Cloud-based AI platform for Li-ion battery fleet monitoring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Use cases: Degradation prediction, safety monitoring, warranty tracking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18+ GWh of battery capacity monitored globally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Also active in insurance sector (BESS risk assessment with HDI Global)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SaaS subscription per asset / per GWh monitored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Additional revenue from insurance partnerships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Enterprise contracts with utilities and IPPs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Independent third-party (not OEM-tied) → trusted by investors &amp; insurers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Only company in this set focused on battery health, not trading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Enables better financing terms through transparent battery analytics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Insurance angle: risk-managed BESS policies with HDI Global 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Clients: Iqony, esVolta, Repsol, UBS AM, Gore Street Capital, Pacific Green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Partnership: HDI Global SE, HDI TH!NX for BESS insurance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Award-winning platform, FCA-adjacent regulatory positioning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Next Kraftwerke (Shell)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One of Europe's largest Virtual Power Plants — aggregation &amp; trading of distributed energy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next-kraftwerke.com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🇩🇪 Cologne, Germany  •  Founded 2009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Virtual Power Plant (VPP)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Aggregates thousands of DERs (renewables, storage, demand response) into a VPP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Trades aggregated flexibility on spot, intraday, and balancing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BESS optimization is one component within broader VPP portfolio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Acquired by Shell in 2021 — now part of Shell Energy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~15 GW+ aggregated capacity across Europe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Revenue-share / service fees for VPP participants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Trading revenues from aggregated portfolio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Backed by Shell balance sheet — different risk profile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Massive scale: 15 GW+ aggregated = unmatched liquidity advantage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Broadest asset mix: wind, solar, biogas, BESS, demand response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Shell backing provides capital and market access at scale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Established player (since 2009) with deep regulatory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Acquired by Shell (2021) for reported ~€400M+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Operates in DE, AT, BE, FR, NL, PL, IT + more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Thousands of connected assets across Europe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Habitat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Leading global optimizer of battery storage and renewable energy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habitat.energy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🇬🇧 Oxford, UK  •  Founded 2017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BESS &amp; RE Optimization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EVOLVE platform: end-to-end optimization for BESS, RE, and co-located assets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AI/ML-driven dispatch across wholesale, balancing, and ancillary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5.2 GW under contract globally (UK, Australia, USA)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Combines data science with human trading expertise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Consistently ranked top-quartile for BESS revenues in GB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Revenue-share / optimization fee per asset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Performance-based: tied to actual dispatch results vs. benchmark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Multi-geography: UK, Australia (NEM), USA (ISOs)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Proven track record: consistently top-quartile GB BESS revenues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Global reach (UK + Australia + USA) — rare for European optimizer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RL/ML-based dispatch — one of the first to deploy RL in production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Strong reputation with institutional investors (pension funds, infra funds)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5.2 GW under contract, 125 employees, 3 countries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Clients include major infra funds and IPPs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Well-established since 2017 — one of the longest track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Modo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Energy storage market intelligence, indices, and optimization benchmarking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modoenergy.com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🇬🇧 London, UK  •  Founded 2019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BESS Analytics &amp; Benchmarking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NOT a direct optimizer — provides analytics, benchmarks &amp; forecasts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Modo Terminal: market data platform for BESS investors &amp; operators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Publishes BESS revenue benchmarks (used industry-wide for comparison)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FCA-regulated benchmark administrator (UK BMR)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Research covers GB, Europe, Australia, North America (PJM, ERCOT)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SaaS subscription for Modo Terminal access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Data licensing to investors, developers, and traders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Research &amp; advisory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Industry-standard benchmarking — everyone measures against Modo data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FCA-regulated: trusted, independent third-party data source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AI Analyst product (launched Jan 2026) for automated insights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Cross-market coverage: GB, DE, AU, PJM — broadest analytics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Series B: Molten Ventures, ETF Partners, MMC Ventures, Fred. Olsen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Used by most major BESS investors and operators for due diligence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Growing rapidly as BESS market scales globally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GridBeyond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Intelligent energy platform for industrial flexibility and battery storage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gridbeyond.com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🇮🇪 Dublin, Ireland  •  Founded 2010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Energy Trading &amp; Flexibility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AI-powered platform for energy trading and demand-side flexibility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Serves both industrial consumers (demand response) AND BESS assets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Trades across DA, intraday, balancing, and capacity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Point Advisory: dedicated trading desk + algorithmic optimization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Active across UK, Ireland, Europe, Japan, and Australia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Revenue-share model for BESS optimization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Demand response: shared savings with industrial clients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SaaS + managed service hybrid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Dual focus: industrial flexibility + pure BESS — broader demand pool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Long track record (since 2010) in demand-side management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Global footprint including Japan — unusual for European player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Strong in industrial energy management → cross-selling to BESS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Funding: ~$60M+ (Act Venture Capital, Brehon Capital, ESB)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Clients: industrial manufacturers, BESS operators, utilities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Offices in Dublin, London, Tokyo, Melbourne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Flexitricity (Quintas Energy)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Maximizing revenue for flexible energy assets across GB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</a:defRPr>
            </a:pPr>
            <a:r>
              <a:t>flexitricity.com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🇬🇧 Edinburgh, UK  •  Founded 2004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51560"/>
            <a:ext cx="2560320" cy="320040"/>
          </a:xfrm>
          <a:prstGeom prst="roundRect">
            <a:avLst>
              <a:gd name="adj" fmla="val 10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Flexibility &amp; BESS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0292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4CC16"/>
                </a:solidFill>
              </a:defRPr>
            </a:pPr>
            <a:r>
              <a:t>Business Model &amp; Key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One of UK's oldest flexibility aggregators (est. 2004)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Optimizes BESS, CHP, backup generators, and demand response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Acquired by Quintas Energy — now part of broader RE asset management group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Strong focus on GB balancing and ancillary services markets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Revenue stacking across FFR, DC, DM, CM, and wholesale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Revenue-share / management fee per flexible asset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Portfolio approach: stacks multiple revenue streams per asset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Part of Quintas Energy group — integrated asset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21208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4CC16"/>
                </a:solidFill>
              </a:defRPr>
            </a:pPr>
            <a:r>
              <a:t>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20+ year track record in GB flexibility markets — deepest expertise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Quintas Energy backing: combines flexibility with RE asset management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Strong regulatory relationships with National Grid ESO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Specializes in revenue stacking across all GB ancillary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Clients &amp;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Acquired by Quintas Energy (global RE asset manager)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Long-standing GB market participant since 2004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Hundreds of flexible assets in portfolio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Competitive Landscape —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711960" cy="36576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4840" y="10972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097280"/>
            <a:ext cx="1529080" cy="36576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62200" y="10972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Core 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097280"/>
            <a:ext cx="980440" cy="36576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16680" y="10972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Owns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97280"/>
            <a:ext cx="1346200" cy="36576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22520" y="10972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Revenue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1529080" cy="36576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4120" y="10972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Value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97280"/>
            <a:ext cx="706120" cy="36576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8600" y="10972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5544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840" y="15798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Enspired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15544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62200" y="15798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AI Trading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5544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16680" y="15798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5544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22520" y="15798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Rev-Share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5544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4120" y="15798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Trading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5544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48600" y="15798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🇦🇹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0116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840" y="20370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Suena Energy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20116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62200" y="20370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Trading + 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20116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16680" y="20370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20116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22520" y="20370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Rev-Share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0116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4120" y="20370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Trading + EE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20116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48600" y="20370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🇩🇪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24688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4840" y="24942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8Energies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24688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62200" y="24942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Dev &amp; Operator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0" y="24688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16680" y="24942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46320" y="24688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22520" y="24942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Asset IRR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24688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94120" y="24942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Full-Stack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24688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48600" y="24942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🇩🇪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29260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4840" y="29514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Entrix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86000" y="29260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362200" y="29514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AI Trading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0" y="29260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16680" y="29514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29260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22520" y="29514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Rev-Share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29260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94120" y="29514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Trading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72400" y="29260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48600" y="29514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🇩🇪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33832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4840" y="34086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ACCURE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86000" y="33832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362200" y="34086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Battery Intel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40480" y="33832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16680" y="34086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46320" y="33832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922520" y="34086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SaaS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0" y="33832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94120" y="34086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Analytics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72400" y="33832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848600" y="34086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🇩🇪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38404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4840" y="38658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</a:defRPr>
            </a:pPr>
            <a:r>
              <a:t>Next Kraftwerke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286000" y="38404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362200" y="38658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VPP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840480" y="38404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16680" y="38658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846320" y="38404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922520" y="38658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Rev-Share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17920" y="38404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294120" y="38658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Aggregation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0" y="38404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48600" y="38658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🇩🇪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48640" y="42976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24840" y="43230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Habitat Energy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286000" y="42976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62200" y="43230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BESS Optimizer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40480" y="42976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916680" y="43230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846320" y="42976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922520" y="43230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Rev-Share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17920" y="42976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294120" y="43230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Trading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72400" y="42976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848600" y="43230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🇬🇧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8640" y="47548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4840" y="47802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</a:defRPr>
            </a:pPr>
            <a:r>
              <a:t>Modo Energy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286000" y="47548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362200" y="47802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Benchmarking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840480" y="47548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916680" y="47802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846320" y="47548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922520" y="47802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SaaS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217920" y="47548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294120" y="47802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Analytics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772400" y="47548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848600" y="47802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🇬🇧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" y="52120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4840" y="52374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GridBeyond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286000" y="52120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362200" y="52374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Flex + BESS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40480" y="52120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916680" y="52374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846320" y="52120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922520" y="52374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Rev-Share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17920" y="52120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94120" y="52374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Trading + DSR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772400" y="52120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848600" y="52374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🇮🇪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5669280"/>
            <a:ext cx="171196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24840" y="5694680"/>
            <a:ext cx="158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4CC16"/>
                </a:solidFill>
              </a:defRPr>
            </a:pPr>
            <a:r>
              <a:t>Flexitricity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286000" y="56692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362200" y="56946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Flex + BESS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840480" y="5669280"/>
            <a:ext cx="98044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3916680" y="5694680"/>
            <a:ext cx="85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❌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846320" y="5669280"/>
            <a:ext cx="134620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22520" y="5694680"/>
            <a:ext cx="121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Rev-Share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17920" y="5669280"/>
            <a:ext cx="152908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294120" y="5694680"/>
            <a:ext cx="140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Trading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772400" y="5669280"/>
            <a:ext cx="706120" cy="411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848600" y="5694680"/>
            <a:ext cx="57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</a:defRPr>
            </a:pPr>
            <a:r>
              <a:t>🇬🇧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412480" y="1097280"/>
            <a:ext cx="3474720" cy="5212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5953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Key Segments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595360" y="1737360"/>
            <a:ext cx="31089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595360" y="181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🔵 Pure BESS Trading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95360" y="206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Enspired, Entrix, Habitat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95360" y="2834639"/>
            <a:ext cx="31089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595360" y="29108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🔵 Trading + RE/Flex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595360" y="31648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Suena, Next KW, GridBeyond,</a:t>
            </a:r>
            <a:br/>
            <a:r>
              <a:t>Flexitricity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95360" y="3931920"/>
            <a:ext cx="31089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595360" y="4008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🟢 Asset Owner/Operator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95360" y="4262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8Energies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95360" y="5029200"/>
            <a:ext cx="310896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595360" y="5105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🔴 Analytics / SaaS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595360" y="5359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ACCURE, Modo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1936</Words>
  <Application>Microsoft Macintosh PowerPoint</Application>
  <PresentationFormat>Breitbild</PresentationFormat>
  <Paragraphs>319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Christoph Bückle</cp:lastModifiedBy>
  <cp:revision>1</cp:revision>
  <dcterms:created xsi:type="dcterms:W3CDTF">2013-01-27T09:14:16Z</dcterms:created>
  <dcterms:modified xsi:type="dcterms:W3CDTF">2026-03-08T21:20:23Z</dcterms:modified>
  <cp:category/>
</cp:coreProperties>
</file>