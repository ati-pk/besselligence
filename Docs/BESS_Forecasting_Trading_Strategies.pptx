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2" d="100"/>
          <a:sy n="102" d="100"/>
        </p:scale>
        <p:origin x="140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194560"/>
            <a:ext cx="1371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BESS Trading Strategies &amp;</a:t>
            </a:r>
            <a:br/>
            <a:r>
              <a:t>The Role of Price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How forecasting transforms battery storage from a scheduled asset into a trading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BESS Revenue 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⚡ Energy Arbitrage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</a:defRPr>
            </a:pPr>
            <a:r>
              <a:t>Buy low, sell high on spot 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Primary revenue driver</a:t>
            </a:r>
            <a:br/>
            <a:r>
              <a:t>Directly forecast-dependent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1168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201168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🔄 Frequency Regulation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</a:defRPr>
            </a:pPr>
            <a:r>
              <a:t>FCR, aFRR — grid stabilization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404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Contracted availability</a:t>
            </a:r>
            <a:br/>
            <a:r>
              <a:t>Low forecast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645920"/>
            <a:ext cx="201168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0" y="1645920"/>
            <a:ext cx="20116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Capacity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5603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</a:defRPr>
            </a:pPr>
            <a:r>
              <a:t>Availability premiums for peak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8404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Long-term contracts</a:t>
            </a:r>
            <a:br/>
            <a:r>
              <a:t>Minimal forecast need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645920"/>
            <a:ext cx="201168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199" y="1645920"/>
            <a:ext cx="20116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📉 Peak Shaving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5603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</a:defRPr>
            </a:pPr>
            <a:r>
              <a:t>Reduce demand charges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8404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Behind-the-meter</a:t>
            </a:r>
            <a:br/>
            <a:r>
              <a:t>Partial forecast benefit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645920"/>
            <a:ext cx="201168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645920"/>
            <a:ext cx="20116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⚖️ Balancing 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603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</a:defRPr>
            </a:pPr>
            <a:r>
              <a:t>Real-time grid balancing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8404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High-value, unpredictable</a:t>
            </a:r>
            <a:br/>
            <a:r>
              <a:t>Forecasting creates 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6B6D4"/>
                </a:solidFill>
              </a:defRPr>
            </a:pPr>
            <a:r>
              <a:t>💡 Arbitrage + Balancing = highest forecasting sensitivity → biggest revenue uplift from better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Day-Ahead: Known Prices ≠ Full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✅ What You Know (12–36h ahead)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DA auction results published ~12:42 CET for next day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All 24 hourly prices are fixed and known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Optimal charge/discharge schedule can be computed via LP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No forecasting needed for pure DA execution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→ Simple: solve LP against known prices, execute 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❌ What You Don't Know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Intraday continuous prices (can deviate ±50% from DA)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Imbalance / settlement prices (can spike to 1,000+ €/MWh)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Tomorrow's DA prices (needed for multi-day planning)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Whether to reserve capacity for higher-value markets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Battery degradation trade-off: cycle today or save for tomorrow?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→ This is where forecasting creates real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Five Ways Forecasting Drives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097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7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Capacity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How much battery to commit to DA</a:t>
            </a:r>
            <a:br/>
            <a:r>
              <a:t>vs. reserve for intraday/balancing?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840480" cy="640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</a:defRPr>
            </a:pPr>
            <a:r>
              <a:t>Forecast intraday volatility</a:t>
            </a:r>
            <a:br/>
            <a:r>
              <a:t>&amp; balancing prices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612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48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Intraday Trading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Capture spreads between DA</a:t>
            </a:r>
            <a:br/>
            <a:r>
              <a:t>and intraday prices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423160"/>
            <a:ext cx="3840480" cy="640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2423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</a:defRPr>
            </a:pPr>
            <a:r>
              <a:t>Forecast 15-min intraday</a:t>
            </a:r>
            <a:br/>
            <a:r>
              <a:t>prices up to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128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00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Multi-Day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74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Skip weak spreads today,</a:t>
            </a:r>
            <a:br/>
            <a:r>
              <a:t>cycle on high-spread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474720"/>
            <a:ext cx="3840480" cy="640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3474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Forecast DA prices</a:t>
            </a:r>
            <a:br/>
            <a:r>
              <a:t>beyond known 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7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5643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51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Imbalance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52627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Position for settlement</a:t>
            </a:r>
            <a:br/>
            <a:r>
              <a:t>price spikes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526279"/>
            <a:ext cx="3840480" cy="640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452627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</a:defRPr>
            </a:pPr>
            <a:r>
              <a:t>Forecast system imbalance</a:t>
            </a:r>
            <a:br/>
            <a:r>
              <a:t>&amp; balancing activation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77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6159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60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Negative Prices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577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Get paid to charge during</a:t>
            </a:r>
            <a:br/>
            <a:r>
              <a:t>renewable oversupply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5577840"/>
            <a:ext cx="3840480" cy="640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79" y="5577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Forecast wind/solar surplus</a:t>
            </a:r>
            <a:br/>
            <a:r>
              <a:t>&amp; demand troughs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Forecast Horizons &amp;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28016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Strategic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Long-Term</a:t>
            </a:r>
            <a:br/>
            <a:r>
              <a:t>1–10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Investment decision,</a:t>
            </a:r>
            <a:br/>
            <a:r>
              <a:t>site selection, PPA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Fundamental models,</a:t>
            </a:r>
            <a:br/>
            <a:r>
              <a:t>Merit-Order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45920"/>
            <a:ext cx="265176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645920"/>
            <a:ext cx="265176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66160" y="1920240"/>
            <a:ext cx="128016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Medium-Term</a:t>
            </a:r>
            <a:br/>
            <a:r>
              <a:t>Weeks–Months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Hedging, maintenance</a:t>
            </a:r>
            <a:br/>
            <a:r>
              <a:t>planning, seasonal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Weather ensembles +</a:t>
            </a:r>
            <a:br/>
            <a:r>
              <a:t>statistical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265176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0" y="1920240"/>
            <a:ext cx="128016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Day-Ahead</a:t>
            </a:r>
            <a:br/>
            <a:r>
              <a:t>12–36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Dispatch optimization,</a:t>
            </a:r>
            <a:br/>
            <a:r>
              <a:t>auction bidding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Method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ML models (LSTM,</a:t>
            </a:r>
            <a:br/>
            <a:r>
              <a:t>Transformer, XGBoost)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645920"/>
            <a:ext cx="2651760" cy="4572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52560" y="1645920"/>
            <a:ext cx="26517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35440" y="1920240"/>
            <a:ext cx="128016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0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Intraday</a:t>
            </a:r>
            <a:br/>
            <a:r>
              <a:t>0–4 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Continuous trading,</a:t>
            </a:r>
            <a:br/>
            <a:r>
              <a:t>position adjustment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Method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</a:defRPr>
            </a:pPr>
            <a:r>
              <a:t>Real-time ML,</a:t>
            </a:r>
            <a:br/>
            <a:r>
              <a:t>order book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Impact: With vs. Without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50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A3AF"/>
                </a:solidFill>
              </a:defRPr>
            </a:pPr>
            <a:r>
              <a:t>📋 Without Forecasting (DA-Only)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Fixed schedule based on known DA prices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1 cycle per day, no intraday trading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No multi-day optimization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Captures ~50–60% of available revenue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Misses intraday spikes &amp; negative price events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Typical: €80–120k / MW /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🚀 With Advanced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Dynamic dispatch across DA + intraday + balancing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Multi-cycle on volatile days (2–3 cycles)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Degradation-aware multi-day planning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Captures ~80–95% of available revenue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Exploits negative prices &amp; imbalance spikes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</a:defRPr>
            </a:pPr>
            <a:r>
              <a:t>Typical: €120–180k / MW / year  (+40–60%)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21792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For a 100 MW BESS: forecasting can add €2–5M in annual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Price Curves: DA vs. Intraday vs. Imbalance — 36h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ess_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</a:defRPr>
            </a:pPr>
            <a:r>
              <a:t>Illustrative prices · DA = Day-Ahead (known) · Intraday &amp; Imbalance = forecast-dependent · Spreads compound with multi-cycle and spike capture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Frontier: Reinforcement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A3AF"/>
                </a:solidFill>
              </a:defRPr>
            </a:pPr>
            <a:r>
              <a:t>Traditional: Forecast → Optimize → Execute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01168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Market</a:t>
            </a:r>
            <a:br/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201168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39" y="201168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39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Price</a:t>
            </a:r>
            <a:br/>
            <a:r>
              <a:t>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19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9" y="201168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59" y="201168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59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LP/MPC</a:t>
            </a:r>
            <a:br/>
            <a: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39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01168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201168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Dispatch</a:t>
            </a:r>
            <a:br/>
            <a: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⚠️ Errors at each stage compound — forecast miss → suboptimal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RL: Market Signals → Optimal Action (End-to-End)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274320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274320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Market</a:t>
            </a:r>
            <a:br/>
            <a:r>
              <a:t>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206240"/>
            <a:ext cx="274320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23360" y="420624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0" y="4297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RL Agent</a:t>
            </a:r>
            <a:br/>
            <a:r>
              <a:t>(PPO/SAC)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206240"/>
            <a:ext cx="2743200" cy="8229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0" y="420624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0" y="4297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Optimal</a:t>
            </a:r>
            <a:br/>
            <a: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✅ No forecast error propagation — learns patterns implicitly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5216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0B981"/>
                </a:solidFill>
              </a:defRPr>
            </a:pPr>
            <a:r>
              <a:t>+5–15% vs. traditional</a:t>
            </a:r>
            <a:br/>
            <a:r>
              <a:t>forecast + optimize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585216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5852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6B6D4"/>
                </a:solidFill>
              </a:defRPr>
            </a:pPr>
            <a:r>
              <a:t>Best in volatile &amp;</a:t>
            </a:r>
            <a:br/>
            <a:r>
              <a:t>intraday markets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85216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58521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9E0B"/>
                </a:solidFill>
              </a:defRPr>
            </a:pPr>
            <a:r>
              <a:t>Production-ready:</a:t>
            </a:r>
            <a:br/>
            <a:r>
              <a:t>Habitat, Tesla, Enspired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35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13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DA prices are known — but they're only the floor, not the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9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Pure DA execution captures ~50–60% of available revenue. The rest sits in intraday, imbalance, and cross-market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635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65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Forecasting unlocks 5 additional revenue levers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4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Capacity allocation, intraday trading, multi-day planning, imbalance optimization, and negative price exploitation.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635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616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Forecast accuracy directly impacts IRR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9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±5 vs. ±15 €/MWh forecast error can shift project IRR by 3–5 percentage points. For a 100 MW BESS: €2–5M annual difference.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617720"/>
            <a:ext cx="635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668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RL is the next evolution — collapsing forecast +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4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End-to-end learning eliminates forecast error propagation. +5–15% revenue vs. traditional approaches. Already deployed commercially.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79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5669279"/>
            <a:ext cx="635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7200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The competitive moat in BESS is software, not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99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Battery hardware is commoditizing. Trading intelligence — forecasting + optimization — is the differentiator.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Microsoft Macintosh PowerPoint</Application>
  <PresentationFormat>Breitbild</PresentationFormat>
  <Paragraphs>133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Christoph Bückle</cp:lastModifiedBy>
  <cp:revision>1</cp:revision>
  <dcterms:created xsi:type="dcterms:W3CDTF">2013-01-27T09:14:16Z</dcterms:created>
  <dcterms:modified xsi:type="dcterms:W3CDTF">2026-03-08T10:56:18Z</dcterms:modified>
  <cp:category/>
</cp:coreProperties>
</file>